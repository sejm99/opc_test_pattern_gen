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CBEEE"/>
    <a:srgbClr val="D8BFEB"/>
    <a:srgbClr val="BC8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63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00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65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890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14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13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33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93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21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8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D8AC7-AD2B-4B58-AEC6-02FDE2E989D7}" type="datetimeFigureOut">
              <a:rPr lang="ko-KR" altLang="en-US" smtClean="0"/>
              <a:t>2022-05-12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59D64-9FD3-4645-A9DA-4570E3C6B1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93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617" y="164757"/>
            <a:ext cx="588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 smtClean="0"/>
              <a:t>FAB1 SIEMENS </a:t>
            </a:r>
            <a:r>
              <a:rPr lang="en-US" altLang="ko-KR" b="1" dirty="0" smtClean="0"/>
              <a:t>OPC Model</a:t>
            </a:r>
            <a:r>
              <a:rPr lang="ko-KR" altLang="en-US" b="1" smtClean="0"/>
              <a:t>용 </a:t>
            </a:r>
            <a:r>
              <a:rPr lang="en-US" altLang="ko-KR" b="1" dirty="0" smtClean="0"/>
              <a:t>Test Pattern </a:t>
            </a:r>
            <a:r>
              <a:rPr lang="en-US" altLang="ko-KR" b="1" dirty="0" smtClean="0"/>
              <a:t>Inform</a:t>
            </a:r>
            <a:endParaRPr lang="ko-KR" altLang="en-US" b="1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40782"/>
              </p:ext>
            </p:extLst>
          </p:nvPr>
        </p:nvGraphicFramePr>
        <p:xfrm>
          <a:off x="469787" y="621498"/>
          <a:ext cx="6235818" cy="481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303"/>
                <a:gridCol w="1039303"/>
                <a:gridCol w="1039303"/>
                <a:gridCol w="1039303"/>
                <a:gridCol w="1039303"/>
                <a:gridCol w="1039303"/>
              </a:tblGrid>
              <a:tr h="52314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 smtClean="0"/>
                        <a:t>Pitch Line Linearity </a:t>
                      </a:r>
                    </a:p>
                    <a:p>
                      <a:pPr algn="ctr"/>
                      <a:r>
                        <a:rPr lang="en-US" altLang="ko-KR" sz="1000" b="1" dirty="0" smtClean="0"/>
                        <a:t>(PL)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Pitch Space Linearity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(PS)</a:t>
                      </a:r>
                      <a:endParaRPr lang="ko-KR" altLang="en-US" sz="1000" b="1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ISO Line Linearity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 (IL)</a:t>
                      </a:r>
                      <a:endParaRPr lang="ko-KR" altLang="en-US" sz="1000" b="1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ISO Space Linearity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/>
                        <a:t>(IS)</a:t>
                      </a:r>
                      <a:endParaRPr lang="ko-KR" altLang="en-US" sz="1000" b="1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 smtClean="0"/>
                        <a:t>BIG</a:t>
                      </a:r>
                      <a:r>
                        <a:rPr lang="en-US" altLang="ko-KR" sz="1000" b="1" baseline="0" dirty="0" smtClean="0"/>
                        <a:t> MAC </a:t>
                      </a:r>
                    </a:p>
                    <a:p>
                      <a:pPr algn="ctr"/>
                      <a:r>
                        <a:rPr lang="en-US" altLang="ko-KR" sz="1000" b="1" baseline="0" dirty="0" smtClean="0"/>
                        <a:t>(BM)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2BAR</a:t>
                      </a:r>
                      <a:endParaRPr lang="ko-KR" altLang="en-US" sz="1000" b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105611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231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3BAR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ISO Line-End</a:t>
                      </a:r>
                      <a:r>
                        <a:rPr lang="en-US" altLang="ko-KR" sz="1000" b="1" baseline="0" dirty="0" smtClean="0">
                          <a:latin typeface="+mj-lt"/>
                        </a:rPr>
                        <a:t> (ILE)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Dense 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Line-End</a:t>
                      </a:r>
                    </a:p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(DLE)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INV</a:t>
                      </a:r>
                      <a:r>
                        <a:rPr lang="en-US" altLang="ko-KR" sz="1000" b="1" baseline="0" dirty="0" smtClean="0">
                          <a:latin typeface="+mj-lt"/>
                        </a:rPr>
                        <a:t>_ISO </a:t>
                      </a:r>
                    </a:p>
                    <a:p>
                      <a:pPr algn="ctr" latinLnBrk="1"/>
                      <a:r>
                        <a:rPr lang="en-US" altLang="ko-KR" sz="1000" b="1" baseline="0" dirty="0" smtClean="0">
                          <a:latin typeface="+mj-lt"/>
                        </a:rPr>
                        <a:t>Line-End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200" dirty="0" err="1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INV</a:t>
                      </a:r>
                      <a:r>
                        <a:rPr lang="en-US" altLang="ko-KR" sz="1000" b="1" kern="1200" baseline="0" dirty="0" err="1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_Dense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Line-End</a:t>
                      </a:r>
                      <a:endParaRPr lang="ko-KR" altLang="en-US" sz="1000" b="1" kern="1200" smtClean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endParaRPr lang="ko-KR" alt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Center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Line</a:t>
                      </a:r>
                      <a:r>
                        <a:rPr lang="ko-KR" altLang="en-US" sz="10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ISO Line-End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(CTILE)</a:t>
                      </a:r>
                    </a:p>
                  </a:txBody>
                  <a:tcPr anchor="ctr"/>
                </a:tc>
              </a:tr>
              <a:tr h="105727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231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Center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Line</a:t>
                      </a:r>
                      <a:r>
                        <a:rPr lang="ko-KR" altLang="en-US" sz="1000" b="1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Dense Line-End (CTDLE)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baseline="0" dirty="0" smtClean="0">
                          <a:latin typeface="+mj-lt"/>
                        </a:rPr>
                        <a:t>Center Line </a:t>
                      </a:r>
                    </a:p>
                    <a:p>
                      <a:pPr algn="ctr" latinLnBrk="1"/>
                      <a:r>
                        <a:rPr lang="en-US" altLang="ko-KR" sz="1000" b="1" baseline="0" dirty="0" smtClean="0">
                          <a:latin typeface="+mj-lt"/>
                        </a:rPr>
                        <a:t>1-BAR</a:t>
                      </a:r>
                    </a:p>
                    <a:p>
                      <a:pPr algn="ctr" latinLnBrk="1"/>
                      <a:r>
                        <a:rPr lang="en-US" altLang="ko-KR" sz="1000" b="1" baseline="0" dirty="0" smtClean="0">
                          <a:latin typeface="+mj-lt"/>
                        </a:rPr>
                        <a:t>(CL1B)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Center Line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3-BAR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ISLAND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+mj-lt"/>
                        </a:rPr>
                        <a:t>INV-ISLAND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j-lt"/>
                      </a:endParaRPr>
                    </a:p>
                  </a:txBody>
                  <a:tcPr/>
                </a:tc>
              </a:tr>
              <a:tr h="106037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907" y="1225242"/>
            <a:ext cx="900022" cy="89796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85112" y="1214419"/>
            <a:ext cx="376465" cy="93349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12" y="2831815"/>
            <a:ext cx="453414" cy="93349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592751" y="3236967"/>
            <a:ext cx="888894" cy="1073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974" y="2926141"/>
            <a:ext cx="908468" cy="773269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3877" y="2867961"/>
            <a:ext cx="906835" cy="898724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7337" y="2864771"/>
            <a:ext cx="892652" cy="89600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9" y="1193093"/>
            <a:ext cx="857113" cy="96864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3994" y="1197291"/>
            <a:ext cx="829278" cy="95761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11"/>
          <a:srcRect l="15953" t="5265" r="16814" b="10845"/>
          <a:stretch/>
        </p:blipFill>
        <p:spPr>
          <a:xfrm>
            <a:off x="2718491" y="1202727"/>
            <a:ext cx="718238" cy="94397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73470" y="1240818"/>
            <a:ext cx="889004" cy="88238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77804" y="2839058"/>
            <a:ext cx="822531" cy="91901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6880" y="4567012"/>
            <a:ext cx="932715" cy="645386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76164" y="4452355"/>
            <a:ext cx="501917" cy="870638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1814262" y="4460189"/>
            <a:ext cx="486336" cy="905317"/>
            <a:chOff x="1534170" y="4460189"/>
            <a:chExt cx="486336" cy="905317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34170" y="4481513"/>
              <a:ext cx="486336" cy="870639"/>
            </a:xfrm>
            <a:prstGeom prst="rect">
              <a:avLst/>
            </a:prstGeom>
          </p:spPr>
        </p:pic>
        <p:sp>
          <p:nvSpPr>
            <p:cNvPr id="29" name="직사각형 28"/>
            <p:cNvSpPr/>
            <p:nvPr/>
          </p:nvSpPr>
          <p:spPr>
            <a:xfrm>
              <a:off x="1628884" y="4460189"/>
              <a:ext cx="78878" cy="407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833511" y="4464179"/>
              <a:ext cx="78878" cy="407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628884" y="4954244"/>
              <a:ext cx="78878" cy="407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833511" y="4958234"/>
              <a:ext cx="78878" cy="407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3854837" y="4739061"/>
            <a:ext cx="542745" cy="355542"/>
          </a:xfrm>
          <a:prstGeom prst="rect">
            <a:avLst/>
          </a:prstGeom>
          <a:solidFill>
            <a:srgbClr val="BCB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4798211" y="4585601"/>
            <a:ext cx="707414" cy="662461"/>
            <a:chOff x="4518119" y="4585601"/>
            <a:chExt cx="707414" cy="662461"/>
          </a:xfrm>
        </p:grpSpPr>
        <p:sp>
          <p:nvSpPr>
            <p:cNvPr id="35" name="직사각형 34"/>
            <p:cNvSpPr/>
            <p:nvPr/>
          </p:nvSpPr>
          <p:spPr>
            <a:xfrm>
              <a:off x="4518119" y="4585601"/>
              <a:ext cx="707414" cy="662461"/>
            </a:xfrm>
            <a:prstGeom prst="rect">
              <a:avLst/>
            </a:prstGeom>
            <a:solidFill>
              <a:srgbClr val="BCB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736693" y="4760244"/>
              <a:ext cx="278096" cy="291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39791"/>
              </p:ext>
            </p:extLst>
          </p:nvPr>
        </p:nvGraphicFramePr>
        <p:xfrm>
          <a:off x="7201350" y="621171"/>
          <a:ext cx="3898900" cy="4076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3600"/>
                <a:gridCol w="685800"/>
                <a:gridCol w="685800"/>
                <a:gridCol w="685800"/>
                <a:gridCol w="977900"/>
              </a:tblGrid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ln>
                            <a:noFill/>
                          </a:ln>
                          <a:effectLst/>
                        </a:rPr>
                        <a:t>#1 Shot</a:t>
                      </a:r>
                      <a:r>
                        <a:rPr lang="ko-KR" altLang="en-US" sz="1100" u="none" strike="noStrike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ln>
                            <a:noFill/>
                          </a:ln>
                          <a:effectLst/>
                        </a:rPr>
                        <a:t>AA</a:t>
                      </a:r>
                      <a:endParaRPr lang="en-US" sz="12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ln>
                            <a:noFill/>
                          </a:ln>
                          <a:effectLst/>
                        </a:rPr>
                        <a:t>GC</a:t>
                      </a:r>
                      <a:endParaRPr lang="en-US" sz="12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ln>
                            <a:noFill/>
                          </a:ln>
                          <a:effectLst/>
                        </a:rPr>
                        <a:t>M1</a:t>
                      </a:r>
                      <a:endParaRPr lang="en-US" sz="12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ln>
                            <a:noFill/>
                          </a:ln>
                          <a:effectLst/>
                        </a:rPr>
                        <a:t>Inter-Metal</a:t>
                      </a:r>
                      <a:endParaRPr lang="en-US" sz="12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PL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552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672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837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621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PS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525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651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ln>
                            <a:noFill/>
                          </a:ln>
                          <a:effectLst/>
                        </a:rPr>
                        <a:t>837</a:t>
                      </a:r>
                      <a:endParaRPr lang="en-US" altLang="ko-KR" sz="11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600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ln>
                            <a:noFill/>
                          </a:ln>
                          <a:effectLst/>
                        </a:rPr>
                        <a:t>IL</a:t>
                      </a:r>
                      <a:endParaRPr lang="en-US" sz="11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29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IS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14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29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552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672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783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594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2BAR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506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783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594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3BAR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506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783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594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ILE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456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780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1131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DLE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3648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6240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6480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9048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Inv</a:t>
                      </a:r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-ILE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463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840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832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ln>
                            <a:noFill/>
                          </a:ln>
                          <a:effectLst/>
                        </a:rPr>
                        <a:t>Inv-DLE</a:t>
                      </a:r>
                      <a:endParaRPr lang="en-US" sz="11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3696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6720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6480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6656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CT-ILE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456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780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928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CT-DLE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3648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6240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6480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7424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CT-1B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456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780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ln>
                            <a:noFill/>
                          </a:ln>
                          <a:effectLst/>
                        </a:rPr>
                        <a:t>928</a:t>
                      </a:r>
                      <a:endParaRPr lang="en-US" altLang="ko-KR" sz="11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CT-3B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3648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ln>
                            <a:noFill/>
                          </a:ln>
                          <a:effectLst/>
                        </a:rPr>
                        <a:t>6240</a:t>
                      </a:r>
                      <a:endParaRPr lang="en-US" altLang="ko-KR" sz="11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6480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7424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ISLAND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420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840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832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ln>
                            <a:noFill/>
                          </a:ln>
                          <a:effectLst/>
                        </a:rPr>
                        <a:t>Inv</a:t>
                      </a:r>
                      <a:r>
                        <a:rPr lang="en-US" sz="1100" b="1" u="none" strike="noStrike" dirty="0">
                          <a:ln>
                            <a:noFill/>
                          </a:ln>
                          <a:effectLst/>
                        </a:rPr>
                        <a:t>-ISLAND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420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483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810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ln>
                            <a:noFill/>
                          </a:ln>
                          <a:effectLst/>
                        </a:rPr>
                        <a:t>696</a:t>
                      </a:r>
                      <a:endParaRPr lang="en-US" altLang="ko-KR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19981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33619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34861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38955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106986" y="4848861"/>
            <a:ext cx="4623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OPC Modeling</a:t>
            </a:r>
            <a:r>
              <a:rPr lang="ko-KR" altLang="en-US" b="1" smtClean="0"/>
              <a:t>을 위해 </a:t>
            </a:r>
            <a:r>
              <a:rPr lang="en-US" altLang="ko-KR" b="1" dirty="0" smtClean="0"/>
              <a:t>#9shot </a:t>
            </a:r>
            <a:r>
              <a:rPr lang="ko-KR" altLang="en-US" b="1" smtClean="0"/>
              <a:t>측정 필요</a:t>
            </a:r>
            <a:r>
              <a:rPr lang="en-US" altLang="ko-KR" b="1" dirty="0" smtClean="0"/>
              <a:t>.</a:t>
            </a:r>
            <a:endParaRPr lang="ko-KR" altLang="en-US" b="1"/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0661"/>
              </p:ext>
            </p:extLst>
          </p:nvPr>
        </p:nvGraphicFramePr>
        <p:xfrm>
          <a:off x="499151" y="6075596"/>
          <a:ext cx="2921000" cy="4953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3600"/>
                <a:gridCol w="685800"/>
                <a:gridCol w="685800"/>
                <a:gridCol w="685800"/>
              </a:tblGrid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 smtClean="0">
                          <a:ln>
                            <a:noFill/>
                          </a:ln>
                          <a:effectLst/>
                        </a:rPr>
                        <a:t>#1 Shot</a:t>
                      </a:r>
                      <a:r>
                        <a:rPr lang="ko-KR" altLang="en-US" sz="1100" u="none" strike="noStrike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ln>
                            <a:noFill/>
                          </a:ln>
                          <a:effectLst/>
                        </a:rPr>
                        <a:t>AA</a:t>
                      </a:r>
                      <a:endParaRPr lang="en-US" sz="12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ln>
                            <a:noFill/>
                          </a:ln>
                          <a:effectLst/>
                        </a:rPr>
                        <a:t>GC</a:t>
                      </a:r>
                      <a:endParaRPr lang="en-US" sz="12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ln>
                            <a:noFill/>
                          </a:ln>
                          <a:effectLst/>
                        </a:rPr>
                        <a:t>M1</a:t>
                      </a:r>
                      <a:endParaRPr lang="en-US" sz="12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</a:t>
                      </a:r>
                      <a:endParaRPr lang="en-US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195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  <a:endParaRPr lang="en-US" altLang="ko-KR" sz="1100" b="1" i="0" u="none" strike="noStrike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0616" y="5681217"/>
            <a:ext cx="569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 smtClean="0"/>
              <a:t>FAB1 SYNOSYS OPC Model Test </a:t>
            </a:r>
            <a:r>
              <a:rPr lang="en-US" altLang="ko-KR" b="1" dirty="0" smtClean="0"/>
              <a:t>Pattern </a:t>
            </a:r>
            <a:r>
              <a:rPr lang="en-US" altLang="ko-KR" b="1" dirty="0" smtClean="0"/>
              <a:t>Inform</a:t>
            </a:r>
            <a:endParaRPr lang="ko-KR" altLang="en-US" b="1"/>
          </a:p>
        </p:txBody>
      </p:sp>
      <p:sp>
        <p:nvSpPr>
          <p:cNvPr id="6" name="TextBox 5"/>
          <p:cNvSpPr txBox="1"/>
          <p:nvPr/>
        </p:nvSpPr>
        <p:spPr>
          <a:xfrm>
            <a:off x="3370818" y="6013618"/>
            <a:ext cx="7697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[</a:t>
            </a:r>
            <a:r>
              <a:rPr lang="ko-KR" altLang="en-US" sz="800" b="1" smtClean="0"/>
              <a:t>단위 </a:t>
            </a:r>
            <a:r>
              <a:rPr lang="en-US" altLang="ko-KR" sz="800" b="1" dirty="0" smtClean="0"/>
              <a:t>: </a:t>
            </a:r>
            <a:r>
              <a:rPr lang="ko-KR" altLang="en-US" sz="800" b="1" smtClean="0"/>
              <a:t>개수</a:t>
            </a:r>
            <a:r>
              <a:rPr lang="en-US" altLang="ko-KR" sz="800" b="1" dirty="0"/>
              <a:t>]</a:t>
            </a:r>
            <a:endParaRPr lang="ko-KR" altLang="en-US" sz="800" b="1"/>
          </a:p>
        </p:txBody>
      </p:sp>
      <p:sp>
        <p:nvSpPr>
          <p:cNvPr id="40" name="TextBox 39"/>
          <p:cNvSpPr txBox="1"/>
          <p:nvPr/>
        </p:nvSpPr>
        <p:spPr>
          <a:xfrm>
            <a:off x="11044368" y="572526"/>
            <a:ext cx="7697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[</a:t>
            </a:r>
            <a:r>
              <a:rPr lang="ko-KR" altLang="en-US" sz="800" b="1" smtClean="0"/>
              <a:t>단위 </a:t>
            </a:r>
            <a:r>
              <a:rPr lang="en-US" altLang="ko-KR" sz="800" b="1" dirty="0" smtClean="0"/>
              <a:t>: </a:t>
            </a:r>
            <a:r>
              <a:rPr lang="ko-KR" altLang="en-US" sz="800" b="1" smtClean="0"/>
              <a:t>개수</a:t>
            </a:r>
            <a:r>
              <a:rPr lang="en-US" altLang="ko-KR" sz="800" b="1" dirty="0"/>
              <a:t>]</a:t>
            </a:r>
            <a:endParaRPr lang="ko-KR" altLang="en-US" sz="800" b="1"/>
          </a:p>
        </p:txBody>
      </p:sp>
    </p:spTree>
    <p:extLst>
      <p:ext uri="{BB962C8B-B14F-4D97-AF65-F5344CB8AC3E}">
        <p14:creationId xmlns:p14="http://schemas.microsoft.com/office/powerpoint/2010/main" val="222363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216</Words>
  <Application>Microsoft Office PowerPoint</Application>
  <PresentationFormat>와이드스크린</PresentationFormat>
  <Paragraphs>139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윤경희 (YUN KYUNG HEE)</dc:creator>
  <cp:lastModifiedBy>윤경희 (YUN KYUNG HEE)</cp:lastModifiedBy>
  <cp:revision>30</cp:revision>
  <dcterms:created xsi:type="dcterms:W3CDTF">2022-05-11T02:34:29Z</dcterms:created>
  <dcterms:modified xsi:type="dcterms:W3CDTF">2022-05-12T03:59:45Z</dcterms:modified>
</cp:coreProperties>
</file>